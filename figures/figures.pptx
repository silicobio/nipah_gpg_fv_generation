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E2DE-AA09-60FB-DB82-362A8769A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F7874-26AF-52F8-814B-3484B7227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48E67-29CF-8DD3-D77B-DE159F69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C34D-6C3C-04BA-3F23-FB3A37FA7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FF97F-61D6-1CFD-C1E8-DD134A17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2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07A6-425F-C4BF-158C-F3267272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F97DE-531C-B71F-759B-E973C79A9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99A89-E4BD-4B0C-10E9-0222AB5D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7947D-3964-D09B-D739-981CBC09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85B9-D60A-8487-D42A-B5342E43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9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517D-52EB-47E1-6F72-DA6A33F5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94DB8-E1E4-82D2-467B-C7860296B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D3EDD-63D6-E0D6-0A4A-6733D767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BD640-73F8-EDE8-C9FC-A4C8EADB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8FD67-F003-82C8-310A-2F1E84A8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9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8CA9-C02E-AF03-0F4B-0E7CAB90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3B5F-A6DA-39C9-B638-0BA31EE75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A4643-7D15-F817-DE55-76A57D3D4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5969F-D9A2-273E-8972-AC070946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17AF1-07DA-26D9-5E69-DB0B6BEC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70164-2CA7-8B8C-1CCD-C7A721A7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81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B9F5-A55C-AF11-EAE8-EF5687E4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5205C-B789-AABD-90C0-3D9A94760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AF926-EDB6-F765-887B-D1CFB9317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FE6F12-8896-6E90-199A-9978AD44B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8D28B-1628-3B4B-757D-59045AD26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8AADE9-D5B1-AC19-7D32-A93CAE651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ECBB25-2ED6-5EDB-E9A5-77E1BA0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7506A-ACE2-D454-B794-988B034AD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07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8A9-E52A-4F54-638B-55DD21A7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B66E1-7D2C-01E9-40E9-A2E4FDF5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258F8-E122-1C38-5878-F64D307F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980FF-9836-DE5F-003A-B2251240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15204-B1C3-36D2-C072-D9AA03B7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1CCF6-53B6-6728-8C79-AA039DBC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6EDAF-9610-4EB4-22EB-355E5AB7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4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5D12-C356-D540-7E9A-BCE9A42A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D722D-BA87-F295-8DC6-05A774234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B9217-316D-2B78-5695-8CC72E5F4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57178-033F-830C-8A64-38308E61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F1F10-943E-7E01-2685-96AF5304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81C7C-6C4C-5635-9775-CD605529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0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427F-4A20-A8B2-CFBA-C60AD6CA4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90150-BD68-92CB-A3C6-097C2445A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F23D9-0686-DECA-92CC-47A4C5BC9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D9B2D-365D-0C81-9F26-009AEEFA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72EB5-8DF1-4FCE-8A03-F9AF6EA1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0D9EE-29A5-552E-8EC0-BC95A078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5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84C7-2307-A796-1772-386B80AA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16C93-8A77-ABBB-D2AE-F131CAFB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E2EC4-EE04-FCAE-DA5E-D121D91F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637E8-17BA-1B18-2D9D-8153C600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876D7-8DAB-660D-12F2-6B3A7AFF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9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196C8-1A92-8EE0-7881-3358C7662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5A55E-866A-A231-97F6-3C4DEBF3E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743C9-8671-534F-EB51-02B88750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508B8-B21A-BDA4-E3B4-CE0753C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E44A0-44D7-B8DA-D523-D537F74F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6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21DB1-7678-96CD-C04F-ECCBA660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638F4-20EC-1231-564E-299E3B690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237FF-657D-AAF2-ED77-5EC522641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75986-8A99-4FF6-AA70-9C5EF39AE46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4F044-5A69-680B-9FF2-57B1C07D1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00B7F-3086-FB37-C497-E2975F34F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AA155-E249-495F-A970-AE08EE626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4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64EB24-C9CB-D836-A2D8-AEB542B3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536"/>
            <a:ext cx="12192000" cy="349892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69390F-4729-DDA5-5E8A-FB6625C20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619676"/>
              </p:ext>
            </p:extLst>
          </p:nvPr>
        </p:nvGraphicFramePr>
        <p:xfrm>
          <a:off x="0" y="5066285"/>
          <a:ext cx="1219200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486257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374939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7823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sbio-nipahgpg-055</a:t>
                      </a:r>
                    </a:p>
                    <a:p>
                      <a:pPr algn="ctr"/>
                      <a:r>
                        <a:rPr lang="en-US" dirty="0"/>
                        <a:t>(peleke-phi-4)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sbio-nipahgpg-120</a:t>
                      </a:r>
                    </a:p>
                    <a:p>
                      <a:pPr algn="ctr"/>
                      <a:r>
                        <a:rPr lang="en-US" dirty="0"/>
                        <a:t>(sbio-nipahgpg-055 + </a:t>
                      </a:r>
                      <a:r>
                        <a:rPr lang="en-US" dirty="0" err="1"/>
                        <a:t>AntiBMPNN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sbio-nipahgpg-148</a:t>
                      </a:r>
                    </a:p>
                    <a:p>
                      <a:pPr algn="ctr"/>
                      <a:r>
                        <a:rPr lang="en-US" dirty="0"/>
                        <a:t>(sbio-nipahgpg-120 + </a:t>
                      </a:r>
                      <a:r>
                        <a:rPr lang="en-US" dirty="0" err="1"/>
                        <a:t>AntiBMPNN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794495"/>
                  </a:ext>
                </a:extLst>
              </a:tr>
            </a:tbl>
          </a:graphicData>
        </a:graphic>
      </p:graphicFrame>
      <p:pic>
        <p:nvPicPr>
          <p:cNvPr id="8" name="Graphic 7" descr="Arrow: Straight with solid fill">
            <a:extLst>
              <a:ext uri="{FF2B5EF4-FFF2-40B4-BE49-F238E27FC236}">
                <a16:creationId xmlns:a16="http://schemas.microsoft.com/office/drawing/2014/main" id="{D267C08F-6F70-F83E-D8CC-3DF2F680A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613597" y="3086100"/>
            <a:ext cx="685800" cy="685800"/>
          </a:xfrm>
          <a:prstGeom prst="rect">
            <a:avLst/>
          </a:prstGeom>
        </p:spPr>
      </p:pic>
      <p:pic>
        <p:nvPicPr>
          <p:cNvPr id="9" name="Graphic 8" descr="Arrow: Straight with solid fill">
            <a:extLst>
              <a:ext uri="{FF2B5EF4-FFF2-40B4-BE49-F238E27FC236}">
                <a16:creationId xmlns:a16="http://schemas.microsoft.com/office/drawing/2014/main" id="{5C953A61-0FD6-7A06-116F-E3E854D33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757376" y="30861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2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FE4A-1886-402D-9C64-4812B097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4532CE-053B-C2EA-69A4-C39819A79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798288"/>
              </p:ext>
            </p:extLst>
          </p:nvPr>
        </p:nvGraphicFramePr>
        <p:xfrm>
          <a:off x="0" y="5281417"/>
          <a:ext cx="12192000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486257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374939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7823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Glycoprotein G with Ephrin B2</a:t>
                      </a:r>
                    </a:p>
                    <a:p>
                      <a:pPr algn="ctr"/>
                      <a:r>
                        <a:rPr lang="en-US" dirty="0"/>
                        <a:t>(PDB: 2VSM)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sbio-nipahgpg-028</a:t>
                      </a:r>
                    </a:p>
                    <a:p>
                      <a:pPr algn="ctr"/>
                      <a:r>
                        <a:rPr lang="en-US" dirty="0"/>
                        <a:t>(from Local Folding)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sbio-nipahgpg-028</a:t>
                      </a:r>
                    </a:p>
                    <a:p>
                      <a:pPr algn="ctr"/>
                      <a:r>
                        <a:rPr lang="en-US" dirty="0"/>
                        <a:t>(from </a:t>
                      </a:r>
                      <a:r>
                        <a:rPr lang="en-US" dirty="0" err="1"/>
                        <a:t>Proteinbase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794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ipSAE</a:t>
                      </a:r>
                      <a:r>
                        <a:rPr lang="en-US" dirty="0"/>
                        <a:t>: 0.73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ipSAE</a:t>
                      </a:r>
                      <a:r>
                        <a:rPr lang="en-US" dirty="0"/>
                        <a:t>: 0.74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ipSAE</a:t>
                      </a:r>
                      <a:r>
                        <a:rPr lang="en-US" dirty="0"/>
                        <a:t>: 0.19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42176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2EF9735-6A51-8070-F613-B310DC5A5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6376"/>
            <a:ext cx="12192000" cy="587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5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9D497F-C340-2110-8A29-6E94EC222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477"/>
            <a:ext cx="12192000" cy="622104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6FBF7D-5F1D-A552-4374-6922AB59E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397341"/>
              </p:ext>
            </p:extLst>
          </p:nvPr>
        </p:nvGraphicFramePr>
        <p:xfrm>
          <a:off x="0" y="318474"/>
          <a:ext cx="12192000" cy="6354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8762317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457968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6251617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41011937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42415180"/>
                    </a:ext>
                  </a:extLst>
                </a:gridCol>
              </a:tblGrid>
              <a:tr h="313306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sbio-nipahgpg-028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sbio-nipahgpg-035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sbio-nipahgpg-059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sbio-nipahgpg-064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sbio-nipahgpg-073</a:t>
                      </a:r>
                    </a:p>
                  </a:txBody>
                  <a:tcPr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33200"/>
                  </a:ext>
                </a:extLst>
              </a:tr>
              <a:tr h="32214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sbio-nipahgpg-119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sbio-nipahgpg-124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sbio-nipahgpg-141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sbio-nipahgpg-152</a:t>
                      </a:r>
                    </a:p>
                  </a:txBody>
                  <a:tcPr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sbio-nipahgpg-159</a:t>
                      </a:r>
                    </a:p>
                  </a:txBody>
                  <a:tcPr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347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7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C0620-3B4F-68F3-19B3-4C7CA6F99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171"/>
            <a:ext cx="12192000" cy="611165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D7138D-BF06-083A-955F-859020FC5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474171"/>
              </p:ext>
            </p:extLst>
          </p:nvPr>
        </p:nvGraphicFramePr>
        <p:xfrm>
          <a:off x="-1" y="373170"/>
          <a:ext cx="12241368" cy="61116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076">
                  <a:extLst>
                    <a:ext uri="{9D8B030D-6E8A-4147-A177-3AD203B41FA5}">
                      <a16:colId xmlns:a16="http://schemas.microsoft.com/office/drawing/2014/main" val="3844965434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707723519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770709440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3958985803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1214566383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2006992692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1796120183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868173636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1015413335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2092198295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3463948309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2650999219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3866332763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3494206674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198455686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1906874906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4177349373"/>
                    </a:ext>
                  </a:extLst>
                </a:gridCol>
                <a:gridCol w="680076">
                  <a:extLst>
                    <a:ext uri="{9D8B030D-6E8A-4147-A177-3AD203B41FA5}">
                      <a16:colId xmlns:a16="http://schemas.microsoft.com/office/drawing/2014/main" val="3953451269"/>
                    </a:ext>
                  </a:extLst>
                </a:gridCol>
              </a:tblGrid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604261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18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19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22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29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20589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39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49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453105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69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94735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79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89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642272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99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44076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109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115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119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65397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129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130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137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139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142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26555"/>
                  </a:ext>
                </a:extLst>
              </a:tr>
              <a:tr h="6790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147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148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149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150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151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152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153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154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155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156</a:t>
                      </a:r>
                      <a:endParaRPr lang="en-US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157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158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28" marR="9128" marT="912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4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99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215</Words>
  <Application>Microsoft Office PowerPoint</Application>
  <PresentationFormat>Widescreen</PresentationFormat>
  <Paragraphs>184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2</cp:revision>
  <dcterms:created xsi:type="dcterms:W3CDTF">2025-12-03T16:21:15Z</dcterms:created>
  <dcterms:modified xsi:type="dcterms:W3CDTF">2025-12-04T01:27:35Z</dcterms:modified>
</cp:coreProperties>
</file>